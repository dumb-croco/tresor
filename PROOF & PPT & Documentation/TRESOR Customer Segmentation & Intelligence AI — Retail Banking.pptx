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Times New Roman MT Bold" charset="1" panose="02030802070405020303"/>
      <p:regular r:id="rId8"/>
    </p:embeddedFont>
    <p:embeddedFont>
      <p:font typeface="Archivo Black" charset="1" panose="020B0A03020202020B04"/>
      <p:regular r:id="rId9"/>
    </p:embeddedFont>
    <p:embeddedFont>
      <p:font typeface="Arial Bold" charset="1" panose="020B0704020202020204"/>
      <p:regular r:id="rId10"/>
    </p:embeddedFont>
    <p:embeddedFont>
      <p:font typeface="Open Sans Bold" charset="1" panose="00000000000000000000"/>
      <p:regular r:id="rId11"/>
    </p:embeddedFont>
    <p:embeddedFont>
      <p:font typeface="Arimo Bold" charset="1" panose="020B0704020202020204"/>
      <p:regular r:id="rId12"/>
    </p:embeddedFont>
    <p:embeddedFont>
      <p:font typeface="Arial" charset="1" panose="020B060402020202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https://www.kaggle.com/datasets/arjunbhasin2013/ccdata/data" TargetMode="External" Type="http://schemas.openxmlformats.org/officeDocument/2006/relationships/hyperlink"/><Relationship Id="rId5" Target="https://www.kaggle.com/datasets/arjunbhasin2013/ccdata/data" TargetMode="External" Type="http://schemas.openxmlformats.org/officeDocument/2006/relationships/hyperlink"/><Relationship Id="rId6" Target="https://www.kaggle.com/datasets/arjunbhasin2013/ccdata/data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57693" y="2653581"/>
            <a:ext cx="8731853" cy="6175623"/>
          </a:xfrm>
          <a:custGeom>
            <a:avLst/>
            <a:gdLst/>
            <a:ahLst/>
            <a:cxnLst/>
            <a:rect r="r" b="b" t="t" l="l"/>
            <a:pathLst>
              <a:path h="6175623" w="8731853">
                <a:moveTo>
                  <a:pt x="0" y="0"/>
                </a:moveTo>
                <a:lnTo>
                  <a:pt x="8731853" y="0"/>
                </a:lnTo>
                <a:lnTo>
                  <a:pt x="8731853" y="6175622"/>
                </a:lnTo>
                <a:lnTo>
                  <a:pt x="0" y="617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1" t="0" r="-59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62190"/>
            <a:ext cx="1828800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4200">
                <a:solidFill>
                  <a:srgbClr val="FF313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TRÉSOR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4200" u="sng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Customer Segmentation &amp; Intelligence AI Retail Bank</a:t>
            </a:r>
            <a:r>
              <a:rPr lang="en-US" sz="4200" u="sng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6081" y="5568963"/>
            <a:ext cx="7922144" cy="4978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3"/>
              </a:lnSpc>
            </a:pPr>
            <a:r>
              <a:rPr lang="en-US" b="true" sz="2910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  <a:p>
            <a:pPr algn="l" marL="345439" indent="-172720" lvl="1">
              <a:lnSpc>
                <a:spcPts val="2783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Single AI agent with a natural-language chat interface : no separate dashboards or SQL knowledge needed</a:t>
            </a:r>
          </a:p>
          <a:p>
            <a:pPr algn="l" marL="345439" indent="-172720" lvl="1">
              <a:lnSpc>
                <a:spcPts val="2783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Intent-routed pipeline (Webhook → Router Agent → Security Filter → MySQL → Summarizer) : each query classified and handled by the right path automatically</a:t>
            </a:r>
          </a:p>
          <a:p>
            <a:pPr algn="l" marL="345439" indent="-172720" lvl="1">
              <a:lnSpc>
                <a:spcPts val="2783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Covers 5 intents in one system : direct queries, EDA, explainability, segmentation &amp; safe refusals</a:t>
            </a:r>
          </a:p>
          <a:p>
            <a:pPr algn="l" marL="345439" indent="-172720" lvl="1">
              <a:lnSpc>
                <a:spcPts val="2783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Human-readable insights &amp; personas : turns raw customer data into plain-English summaries and recommendations</a:t>
            </a:r>
          </a:p>
          <a:p>
            <a:pPr algn="l" marL="345439" indent="-172720" lvl="1">
              <a:lnSpc>
                <a:spcPts val="2783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Fully self-contained one-command Docker deployment : MySQL, n8n workflow &amp; frontend all launch togeth</a:t>
            </a:r>
            <a:r>
              <a:rPr lang="en-US" b="true" sz="1599">
                <a:solidFill>
                  <a:srgbClr val="1F497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er</a:t>
            </a:r>
          </a:p>
          <a:p>
            <a:pPr algn="l">
              <a:lnSpc>
                <a:spcPts val="377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76081" y="1644663"/>
            <a:ext cx="7169983" cy="408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5"/>
              </a:lnSpc>
              <a:spcBef>
                <a:spcPct val="0"/>
              </a:spcBef>
            </a:pPr>
            <a:r>
              <a:rPr lang="en-US" b="true" sz="2912" u="sng">
                <a:solidFill>
                  <a:srgbClr val="1F497D"/>
                </a:solidFill>
                <a:latin typeface="Arimo Bold"/>
                <a:ea typeface="Arimo Bold"/>
                <a:cs typeface="Arimo Bold"/>
                <a:sym typeface="Arimo Bold"/>
              </a:rPr>
              <a:t>Pr</a:t>
            </a:r>
            <a:r>
              <a:rPr lang="en-US" b="true" sz="2912" u="sng">
                <a:solidFill>
                  <a:srgbClr val="1F497D"/>
                </a:solidFill>
                <a:latin typeface="Arimo Bold"/>
                <a:ea typeface="Arimo Bold"/>
                <a:cs typeface="Arimo Bold"/>
                <a:sym typeface="Arimo Bold"/>
              </a:rPr>
              <a:t>oblems Addressed</a:t>
            </a:r>
          </a:p>
          <a:p>
            <a:pPr algn="ctr">
              <a:lnSpc>
                <a:spcPts val="3135"/>
              </a:lnSpc>
              <a:spcBef>
                <a:spcPct val="0"/>
              </a:spcBef>
            </a:pPr>
          </a:p>
          <a:p>
            <a:pPr algn="just" marL="345880" indent="-172940" lvl="1">
              <a:lnSpc>
                <a:spcPts val="192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0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One-size-fits-all marketing : bank offers savings, credit cards, loans &amp; investments, but promotes them the same way to every customer, leading to low engagement</a:t>
            </a:r>
          </a:p>
          <a:p>
            <a:pPr algn="just">
              <a:lnSpc>
                <a:spcPts val="1922"/>
              </a:lnSpc>
              <a:spcBef>
                <a:spcPct val="0"/>
              </a:spcBef>
            </a:pPr>
          </a:p>
          <a:p>
            <a:pPr algn="just" marL="345880" indent="-172940" lvl="1">
              <a:lnSpc>
                <a:spcPts val="192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0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Customer data sits unused : rich transaction &amp; spending data exists, but there's no system to turn it into behavioral insights</a:t>
            </a:r>
          </a:p>
          <a:p>
            <a:pPr algn="just">
              <a:lnSpc>
                <a:spcPts val="1922"/>
              </a:lnSpc>
              <a:spcBef>
                <a:spcPct val="0"/>
              </a:spcBef>
            </a:pPr>
          </a:p>
          <a:p>
            <a:pPr algn="just" marL="349020" indent="-174510" lvl="1">
              <a:lnSpc>
                <a:spcPts val="19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1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 easy way to segment customers : without meaningful groups, personalized product recommendations aren't possible</a:t>
            </a:r>
          </a:p>
          <a:p>
            <a:pPr algn="just">
              <a:lnSpc>
                <a:spcPts val="1939"/>
              </a:lnSpc>
              <a:spcBef>
                <a:spcPct val="0"/>
              </a:spcBef>
            </a:pPr>
          </a:p>
          <a:p>
            <a:pPr algn="just" marL="349020" indent="-174510" lvl="1">
              <a:lnSpc>
                <a:spcPts val="19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1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 single, conversational entry point : existing tools need  segmentation &amp; reporting instead of one simple chat interface</a:t>
            </a:r>
          </a:p>
          <a:p>
            <a:pPr algn="ctr">
              <a:lnSpc>
                <a:spcPts val="313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0938" y="1976352"/>
            <a:ext cx="8379129" cy="3853033"/>
          </a:xfrm>
          <a:custGeom>
            <a:avLst/>
            <a:gdLst/>
            <a:ahLst/>
            <a:cxnLst/>
            <a:rect r="r" b="b" t="t" l="l"/>
            <a:pathLst>
              <a:path h="3853033" w="8379129">
                <a:moveTo>
                  <a:pt x="0" y="0"/>
                </a:moveTo>
                <a:lnTo>
                  <a:pt x="8379129" y="0"/>
                </a:lnTo>
                <a:lnTo>
                  <a:pt x="8379129" y="3853033"/>
                </a:lnTo>
                <a:lnTo>
                  <a:pt x="0" y="3853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15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80082" y="1760501"/>
            <a:ext cx="8077179" cy="8103026"/>
          </a:xfrm>
          <a:custGeom>
            <a:avLst/>
            <a:gdLst/>
            <a:ahLst/>
            <a:cxnLst/>
            <a:rect r="r" b="b" t="t" l="l"/>
            <a:pathLst>
              <a:path h="8103026" w="8077179">
                <a:moveTo>
                  <a:pt x="0" y="0"/>
                </a:moveTo>
                <a:lnTo>
                  <a:pt x="8077178" y="0"/>
                </a:lnTo>
                <a:lnTo>
                  <a:pt x="8077178" y="8103025"/>
                </a:lnTo>
                <a:lnTo>
                  <a:pt x="0" y="8103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18432" y="1000125"/>
            <a:ext cx="440861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b="true" sz="3199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78859" y="757237"/>
            <a:ext cx="768044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b="true" sz="3199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WHAT MAKES THIS SOLUTION STAND OUT?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002" y="6515100"/>
            <a:ext cx="9217003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33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</a:t>
            </a:r>
            <a:r>
              <a:rPr lang="en-US" b="true" sz="3308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Datas</a:t>
            </a:r>
            <a:r>
              <a:rPr lang="en-US" b="true" sz="3308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et Information</a:t>
            </a:r>
          </a:p>
          <a:p>
            <a:pPr algn="l" marL="527354" indent="-263677" lvl="1">
              <a:lnSpc>
                <a:spcPts val="2931"/>
              </a:lnSpc>
              <a:buFont typeface="Arial"/>
              <a:buChar char="•"/>
            </a:pPr>
            <a:r>
              <a:rPr lang="en-US" b="true" sz="2442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Source: </a:t>
            </a:r>
            <a:r>
              <a:rPr lang="en-US" b="true" sz="2442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  <a:hlinkClick r:id="rId4" tooltip="https://www.kaggle.com/datasets/arjunbhasin2013/ccdata/data"/>
              </a:rPr>
              <a:t>Kaggle</a:t>
            </a:r>
            <a:r>
              <a:rPr lang="en-US" b="true" sz="244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5" tooltip="https://www.kaggle.com/datasets/arjunbhasin2013/ccdata/data"/>
              </a:rPr>
              <a:t> - </a:t>
            </a:r>
            <a:r>
              <a:rPr lang="en-US" sz="2442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 tooltip="https://www.kaggle.com/datasets/arjunbhasin2013/ccdata/data"/>
              </a:rPr>
              <a:t>Credit Card Dataset for Clustering</a:t>
            </a:r>
          </a:p>
          <a:p>
            <a:pPr algn="l" marL="527354" indent="-263677" lvl="1">
              <a:lnSpc>
                <a:spcPts val="2931"/>
              </a:lnSpc>
              <a:buFont typeface="Arial"/>
              <a:buChar char="•"/>
            </a:pPr>
            <a:r>
              <a:rPr lang="en-US" b="true" sz="2442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File Name:</a:t>
            </a:r>
            <a:r>
              <a:rPr lang="en-US" b="true" sz="244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4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CC GENERAL.csv</a:t>
            </a:r>
          </a:p>
          <a:p>
            <a:pPr algn="l" marL="527354" indent="-263677" lvl="1">
              <a:lnSpc>
                <a:spcPts val="2931"/>
              </a:lnSpc>
              <a:buFont typeface="Arial"/>
              <a:buChar char="•"/>
            </a:pPr>
            <a:r>
              <a:rPr lang="en-US" b="true" sz="2442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Size: </a:t>
            </a:r>
            <a:r>
              <a:rPr lang="en-US" sz="24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~9,000 active credit card holders over a 6-month evaluation period.</a:t>
            </a:r>
          </a:p>
          <a:p>
            <a:pPr algn="l" marL="527354" indent="-263677" lvl="1">
              <a:lnSpc>
                <a:spcPts val="2931"/>
              </a:lnSpc>
              <a:buFont typeface="Arial"/>
              <a:buChar char="•"/>
            </a:pPr>
            <a:r>
              <a:rPr lang="en-US" b="true" sz="2442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Features: </a:t>
            </a:r>
            <a:r>
              <a:rPr lang="en-US" sz="24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 behavioral variables per customer</a:t>
            </a:r>
            <a:r>
              <a:rPr lang="en-US" sz="2442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2931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DAHQenlYFSc</dc:identifier>
  <dcterms:modified xsi:type="dcterms:W3CDTF">2011-08-01T06:04:30Z</dcterms:modified>
  <cp:revision>1</cp:revision>
  <dc:title>TRESOR Customer Segmentation &amp; Intelligence AI — Retail Banking</dc:title>
</cp:coreProperties>
</file>